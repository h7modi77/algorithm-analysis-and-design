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61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1381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73152" cy="73152"/>
          </a:xfrm>
          <a:prstGeom prst="ellipse">
            <a:avLst/>
          </a:prstGeom>
          <a:solidFill>
            <a:srgbClr val="14B8A6">
              <a:alpha val="6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280160" y="1188720"/>
            <a:ext cx="73152" cy="73152"/>
          </a:xfrm>
          <a:prstGeom prst="ellipse">
            <a:avLst/>
          </a:prstGeom>
          <a:solidFill>
            <a:srgbClr val="14B8A6">
              <a:alpha val="6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73152" cy="73152"/>
          </a:xfrm>
          <a:prstGeom prst="ellipse">
            <a:avLst/>
          </a:prstGeom>
          <a:solidFill>
            <a:srgbClr val="14B8A6">
              <a:alpha val="6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20240" y="457200"/>
            <a:ext cx="73152" cy="73152"/>
          </a:xfrm>
          <a:prstGeom prst="ellipse">
            <a:avLst/>
          </a:prstGeom>
          <a:solidFill>
            <a:srgbClr val="14B8A6">
              <a:alpha val="6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377440" y="1645920"/>
            <a:ext cx="73152" cy="73152"/>
          </a:xfrm>
          <a:prstGeom prst="ellipse">
            <a:avLst/>
          </a:prstGeom>
          <a:solidFill>
            <a:srgbClr val="14B8A6">
              <a:alpha val="6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863840" y="4297680"/>
            <a:ext cx="73152" cy="73152"/>
          </a:xfrm>
          <a:prstGeom prst="ellipse">
            <a:avLst/>
          </a:prstGeom>
          <a:solidFill>
            <a:srgbClr val="14B8A6">
              <a:alpha val="6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223760" y="4572000"/>
            <a:ext cx="73152" cy="73152"/>
          </a:xfrm>
          <a:prstGeom prst="ellipse">
            <a:avLst/>
          </a:prstGeom>
          <a:solidFill>
            <a:srgbClr val="14B8A6">
              <a:alpha val="6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640080"/>
            <a:ext cx="731520" cy="548640"/>
          </a:xfrm>
          <a:prstGeom prst="line">
            <a:avLst/>
          </a:prstGeom>
          <a:noFill/>
          <a:ln w="9525">
            <a:solidFill>
              <a:srgbClr val="14B8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280160" y="1188720"/>
            <a:ext cx="0" cy="822960"/>
          </a:xfrm>
          <a:prstGeom prst="line">
            <a:avLst/>
          </a:prstGeom>
          <a:noFill/>
          <a:ln w="9525">
            <a:solidFill>
              <a:srgbClr val="14B8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863840" y="4297680"/>
            <a:ext cx="457200" cy="0"/>
          </a:xfrm>
          <a:prstGeom prst="line">
            <a:avLst/>
          </a:prstGeom>
          <a:noFill/>
          <a:ln w="9525">
            <a:solidFill>
              <a:srgbClr val="14B8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1188720"/>
            <a:ext cx="3840480" cy="365760"/>
          </a:xfrm>
          <a:prstGeom prst="roundRect">
            <a:avLst>
              <a:gd name="adj" fmla="val 125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61872"/>
            <a:ext cx="21945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68680" y="1188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301 · GROUP 4 PROJECT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Shortest Path</a:t>
            </a:r>
            <a:endParaRPr lang="en-US" sz="5200" dirty="0"/>
          </a:p>
        </p:txBody>
      </p:sp>
      <p:sp>
        <p:nvSpPr>
          <p:cNvPr id="19" name="Text 16"/>
          <p:cNvSpPr/>
          <p:nvPr/>
        </p:nvSpPr>
        <p:spPr>
          <a:xfrm>
            <a:off x="457200" y="2468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Algorithms in Action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457200" y="3154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Dijkstra, Bellman-Ford, Floyd-Warshall, and A* on a 500-node city graph.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94360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" y="3703320"/>
            <a:ext cx="4114800" cy="365760"/>
          </a:xfrm>
          <a:prstGeom prst="rect">
            <a:avLst/>
          </a:prstGeom>
          <a:solidFill>
            <a:srgbClr val="081229"/>
          </a:solidFill>
          <a:ln w="6350">
            <a:solidFill>
              <a:srgbClr val="14B8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57200" y="3703320"/>
            <a:ext cx="54864" cy="365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21792" y="3703320"/>
            <a:ext cx="2551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Fawzi Hawsawi</a:t>
            </a:r>
            <a:r>
              <a:rPr lang="en-US" sz="10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Leader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2926080" y="370332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</a:t>
            </a: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2240007072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663440" y="3703320"/>
            <a:ext cx="4114800" cy="365760"/>
          </a:xfrm>
          <a:prstGeom prst="rect">
            <a:avLst/>
          </a:prstGeom>
          <a:solidFill>
            <a:srgbClr val="081229"/>
          </a:solidFill>
          <a:ln w="6350">
            <a:solidFill>
              <a:srgbClr val="14B8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663440" y="3703320"/>
            <a:ext cx="54864" cy="365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828032" y="3703320"/>
            <a:ext cx="2551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Abdulaziz Khaled Alhassan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132320" y="370332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</a:t>
            </a: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2240006848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57200" y="4114800"/>
            <a:ext cx="4114800" cy="365760"/>
          </a:xfrm>
          <a:prstGeom prst="rect">
            <a:avLst/>
          </a:prstGeom>
          <a:solidFill>
            <a:srgbClr val="081229"/>
          </a:solidFill>
          <a:ln w="6350">
            <a:solidFill>
              <a:srgbClr val="14B8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57200" y="4114800"/>
            <a:ext cx="54864" cy="365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21792" y="4114800"/>
            <a:ext cx="2551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Nawaf Khaled Alwabel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2926080" y="411480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</a:t>
            </a: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2240001111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663440" y="4114800"/>
            <a:ext cx="4114800" cy="365760"/>
          </a:xfrm>
          <a:prstGeom prst="rect">
            <a:avLst/>
          </a:prstGeom>
          <a:solidFill>
            <a:srgbClr val="081229"/>
          </a:solidFill>
          <a:ln w="6350">
            <a:solidFill>
              <a:srgbClr val="14B8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4663440" y="4114800"/>
            <a:ext cx="54864" cy="365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828032" y="4114800"/>
            <a:ext cx="2551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Fahdel Abbas Al Asaad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7132320" y="411480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</a:t>
            </a: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2240002427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57200" y="4526280"/>
            <a:ext cx="4114800" cy="365760"/>
          </a:xfrm>
          <a:prstGeom prst="rect">
            <a:avLst/>
          </a:prstGeom>
          <a:solidFill>
            <a:srgbClr val="081229"/>
          </a:solidFill>
          <a:ln w="6350">
            <a:solidFill>
              <a:srgbClr val="14B8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457200" y="4526280"/>
            <a:ext cx="54864" cy="365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21792" y="4526280"/>
            <a:ext cx="2551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Othman Alkhodir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2926080" y="452628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</a:t>
            </a: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2260040121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4663440" y="4526280"/>
            <a:ext cx="4114800" cy="365760"/>
          </a:xfrm>
          <a:prstGeom prst="rect">
            <a:avLst/>
          </a:prstGeom>
          <a:solidFill>
            <a:srgbClr val="081229"/>
          </a:solidFill>
          <a:ln w="6350">
            <a:solidFill>
              <a:srgbClr val="14B8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4663440" y="4526280"/>
            <a:ext cx="54864" cy="365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4828032" y="4526280"/>
            <a:ext cx="2551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Nasser Al-Marhoon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7132320" y="452628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</a:t>
            </a: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2240005893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Shortest Path Matters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you open a GPS app, a hidden algorithm is racing to find the fastest route between you and your destination. Choosing the right one is the difference between an instant suggestion and a frozen screen.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compares four well-known shortest-path algorithms on the same city graph to determine which one is the best fit for a real navigation system.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1417320"/>
            <a:ext cx="1828800" cy="141732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37760" y="1417320"/>
            <a:ext cx="18288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6459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74920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74920" y="2496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routing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903720" y="1417320"/>
            <a:ext cx="1828800" cy="141732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903720" y="1417320"/>
            <a:ext cx="18288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6459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40880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Bellman-Ford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040880" y="2496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weights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937760" y="2971800"/>
            <a:ext cx="1828800" cy="141732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937760" y="2971800"/>
            <a:ext cx="18288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20040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74920" y="3749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Floyd-Warshall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074920" y="40507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903720" y="2971800"/>
            <a:ext cx="1828800" cy="141732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903720" y="2971800"/>
            <a:ext cx="18288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320040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40880" y="3749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040880" y="40507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Pathfinding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 · CSC 301 · Algorithm Analysis &amp; Design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PROBLEM DESCRIPTION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We Are Solving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73152" cy="1554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75564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Travelers often take longer routes than necessary because they don't know which way is actually the shortest.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building a program that calculates and shows the shortest possible path between multiple locations on a city graph.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4023360" cy="14630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9184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3291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" y="3703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which of the four algorithms gives the fastest, most reliable shortest path on a 500-city graph.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029200" y="1417320"/>
            <a:ext cx="3657600" cy="3154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212080" y="1554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MODEL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88152" y="2542032"/>
            <a:ext cx="1188720" cy="0"/>
          </a:xfrm>
          <a:prstGeom prst="line">
            <a:avLst/>
          </a:prstGeom>
          <a:noFill/>
          <a:ln w="12700">
            <a:solidFill>
              <a:srgbClr val="94A3B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72784" y="231800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788152" y="2542032"/>
            <a:ext cx="457200" cy="105156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07024" y="29580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976872" y="2313432"/>
            <a:ext cx="1280160" cy="320040"/>
          </a:xfrm>
          <a:prstGeom prst="line">
            <a:avLst/>
          </a:prstGeom>
          <a:noFill/>
          <a:ln w="12700">
            <a:solidFill>
              <a:srgbClr val="94A3B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507224" y="236372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976872" y="2313432"/>
            <a:ext cx="594360" cy="1051560"/>
          </a:xfrm>
          <a:prstGeom prst="line">
            <a:avLst/>
          </a:prstGeom>
          <a:noFill/>
          <a:ln w="12700">
            <a:solidFill>
              <a:srgbClr val="94A3B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164324" y="27294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245352" y="3593592"/>
            <a:ext cx="132588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798564" y="336956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257032" y="2633472"/>
            <a:ext cx="91440" cy="1508760"/>
          </a:xfrm>
          <a:prstGeom prst="line">
            <a:avLst/>
          </a:prstGeom>
          <a:noFill/>
          <a:ln w="12700">
            <a:solidFill>
              <a:srgbClr val="94A3B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193024" y="327812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571232" y="3364992"/>
            <a:ext cx="777240" cy="77724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850124" y="36438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245352" y="3593592"/>
            <a:ext cx="2103120" cy="548640"/>
          </a:xfrm>
          <a:prstGeom prst="line">
            <a:avLst/>
          </a:prstGeom>
          <a:noFill/>
          <a:ln w="12700">
            <a:solidFill>
              <a:srgbClr val="94A3B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187184" y="37581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532120" y="2286000"/>
            <a:ext cx="512064" cy="512064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532120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720840" y="2057400"/>
            <a:ext cx="512064" cy="512064"/>
          </a:xfrm>
          <a:prstGeom prst="ellipse">
            <a:avLst/>
          </a:prstGeom>
          <a:solidFill>
            <a:srgbClr val="0F1B3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720840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8001000" y="2377440"/>
            <a:ext cx="512064" cy="512064"/>
          </a:xfrm>
          <a:prstGeom prst="ellipse">
            <a:avLst/>
          </a:prstGeom>
          <a:solidFill>
            <a:srgbClr val="0F1B3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8001000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989320" y="3337560"/>
            <a:ext cx="512064" cy="512064"/>
          </a:xfrm>
          <a:prstGeom prst="ellipse">
            <a:avLst/>
          </a:prstGeom>
          <a:solidFill>
            <a:srgbClr val="0F1B3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989320" y="3337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7315200" y="3108960"/>
            <a:ext cx="512064" cy="512064"/>
          </a:xfrm>
          <a:prstGeom prst="ellipse">
            <a:avLst/>
          </a:prstGeom>
          <a:solidFill>
            <a:srgbClr val="0F1B3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7315200" y="3108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8092440" y="3886200"/>
            <a:ext cx="512064" cy="51206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8092440" y="3886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5257800" y="4206240"/>
            <a:ext cx="32004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5669280" y="4096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  ·  Total weight = 6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 · CSC 301 · Algorithm Analysis &amp; Design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ALGORITHMS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Approaches, One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algorithm has a different trade-off between speed, flexibility, and accuracy.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01168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011680" cy="1005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801368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3154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94360" y="33558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/ Navigation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3794760"/>
            <a:ext cx="1280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4360" y="39044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STRENGTH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94360" y="4114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reliable shortest path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587752" y="1600200"/>
            <a:ext cx="201168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587752" y="1600200"/>
            <a:ext cx="201168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801368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79192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Bellman-Ford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724912" y="3154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2724912" y="33558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Networks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953512" y="3794760"/>
            <a:ext cx="1280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2724912" y="39044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STRENGTH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2724912" y="4114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negative weights &amp; shortcuts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718304" y="1600200"/>
            <a:ext cx="201168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4718304" y="1600200"/>
            <a:ext cx="2011680" cy="100584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9824" y="1801368"/>
            <a:ext cx="548640" cy="5486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809744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Floyd-Warshall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4855464" y="3154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4855464" y="33558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Infrastructure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5084064" y="3794760"/>
            <a:ext cx="1280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4855464" y="39044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STRENGTH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4855464" y="4114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paths between ALL nodes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6848856" y="1600200"/>
            <a:ext cx="201168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6848856" y="1600200"/>
            <a:ext cx="2011680" cy="10058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0376" y="1801368"/>
            <a:ext cx="548640" cy="54864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940296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(A-Star)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6986016" y="3154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850" dirty="0"/>
          </a:p>
        </p:txBody>
      </p:sp>
      <p:sp>
        <p:nvSpPr>
          <p:cNvPr id="37" name="Text 31"/>
          <p:cNvSpPr/>
          <p:nvPr/>
        </p:nvSpPr>
        <p:spPr>
          <a:xfrm>
            <a:off x="6986016" y="33558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/ Pathfinding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7214616" y="3794760"/>
            <a:ext cx="1280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/>
          <p:nvPr/>
        </p:nvSpPr>
        <p:spPr>
          <a:xfrm>
            <a:off x="6986016" y="39044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STRENGTH</a:t>
            </a:r>
            <a:endParaRPr lang="en-US" sz="850" dirty="0"/>
          </a:p>
        </p:txBody>
      </p:sp>
      <p:sp>
        <p:nvSpPr>
          <p:cNvPr id="40" name="Text 34"/>
          <p:cNvSpPr/>
          <p:nvPr/>
        </p:nvSpPr>
        <p:spPr>
          <a:xfrm>
            <a:off x="6986016" y="4114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fast goal-directed search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 · CSC 301 · Algorithm Analysis &amp; Design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DEEP DIVE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Dijkstra's Algorithm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2128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start = 0, all others = ∞.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70048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8712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unvisited node with the smallest distance.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28416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310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5295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neighbor, compute distance through the current node.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86784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9684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187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new path is shorter, replace it. Repeat until done.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1554480"/>
            <a:ext cx="3749040" cy="3063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74920" y="1664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PSEUDOCODE  —  ShortestPath(G, source)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74920" y="1938528"/>
            <a:ext cx="3474720" cy="0"/>
          </a:xfrm>
          <a:prstGeom prst="line">
            <a:avLst/>
          </a:prstGeom>
          <a:noFill/>
          <a:ln w="12700">
            <a:solidFill>
              <a:srgbClr val="14B8A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74920" y="2011680"/>
            <a:ext cx="3474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node n in G: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distance[n] = ∞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visited[n]  = false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distance[source] =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unvisited nodes exist: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 = node with min distance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visited[u] = true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neighbor n of u: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 = distance[u] + w(u,n)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d &lt; distance[n]: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distance[n] = 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distance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 · CSC 301 · Algorithm Analysis &amp; Design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Built &amp; Tested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7432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Construction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6791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generated a graph of 500 cities (City1 → City500) with weighted edges between neighboring cities. Each weight represents the distance between two locations.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29000" y="1417320"/>
            <a:ext cx="27432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703320" y="1691640"/>
            <a:ext cx="548640" cy="54864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18288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0332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Coding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703320" y="26791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algorithms were implemented in Python using the same input graph, so any differences in output come purely from the algorithm itself — not the data.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0" y="1417320"/>
            <a:ext cx="27432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675120" y="1691640"/>
            <a:ext cx="548640" cy="54864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18288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7512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&amp; Output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675120" y="26791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run we recorded the shortest path found, the total distance, and the computation time in seconds — our key metric for comparison.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8404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9728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TEST CASES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097280" y="40050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algorithm was run on the same three queries to ensure a fair comparison: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1097280" y="4279392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14B8A6">
              <a:alpha val="25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1097280" y="4279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City1 → City2  (short)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657600" y="4279392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14B8A6">
              <a:alpha val="25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3657600" y="4279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City1 → City250  (mid)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217920" y="4279392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14B8A6">
              <a:alpha val="25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6217920" y="4279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City1 → City500  (long)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 · CSC 301 · Algorithm Analysis &amp; Design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Computation Time — The Verdict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computation time across three test cases (City1 → City2, City250, City500). Lower is better.</a:t>
            </a:r>
            <a:endParaRPr lang="en-US" sz="1200" dirty="0"/>
          </a:p>
        </p:txBody>
      </p:sp>
      <p:pic>
        <p:nvPicPr>
          <p:cNvPr id="20" name="Dijkstra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2459880" cy="1499760"/>
          </a:xfrm>
          <a:prstGeom prst="rect">
            <a:avLst/>
          </a:prstGeom>
        </p:spPr>
      </p:pic>
      <p:pic>
        <p:nvPicPr>
          <p:cNvPr id="21" name="Floyd 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5080" y="1600200"/>
            <a:ext cx="2459880" cy="1499760"/>
          </a:xfrm>
          <a:prstGeom prst="rect">
            <a:avLst/>
          </a:prstGeom>
        </p:spPr>
      </p:pic>
      <p:pic>
        <p:nvPicPr>
          <p:cNvPr id="22" name="AStar Ch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117960"/>
            <a:ext cx="2459880" cy="1499760"/>
          </a:xfrm>
          <a:prstGeom prst="rect">
            <a:avLst/>
          </a:prstGeom>
        </p:spPr>
      </p:pic>
      <p:pic>
        <p:nvPicPr>
          <p:cNvPr id="23" name="Bellman Char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5080" y="3117960"/>
            <a:ext cx="2459880" cy="1499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77840" y="1600200"/>
            <a:ext cx="310896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577840" y="1600200"/>
            <a:ext cx="73152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60720" y="16733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760720" y="1947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60920" y="16916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0.004s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577840" y="2377440"/>
            <a:ext cx="310896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577840" y="2377440"/>
            <a:ext cx="73152" cy="685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760720" y="2450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760720" y="2724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PEAK · RISKY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360920" y="2468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0.007s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577840" y="3154680"/>
            <a:ext cx="310896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577840" y="3154680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760720" y="32278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Bellman-Ford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760720" y="3502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470× SLOWER</a:t>
            </a:r>
            <a:endParaRPr lang="en-US" sz="900" dirty="0"/>
          </a:p>
        </p:txBody>
      </p:sp>
      <p:sp>
        <p:nvSpPr>
          <p:cNvPr id="5" name="Text 17"/>
          <p:cNvSpPr/>
          <p:nvPr/>
        </p:nvSpPr>
        <p:spPr>
          <a:xfrm>
            <a:off x="7360920" y="32461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1.91s</a:t>
            </a:r>
            <a:endParaRPr lang="en-US" sz="1800" dirty="0"/>
          </a:p>
        </p:txBody>
      </p:sp>
      <p:sp>
        <p:nvSpPr>
          <p:cNvPr id="28" name="Shape 18"/>
          <p:cNvSpPr/>
          <p:nvPr/>
        </p:nvSpPr>
        <p:spPr>
          <a:xfrm>
            <a:off x="5577840" y="3931920"/>
            <a:ext cx="310896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19"/>
          <p:cNvSpPr/>
          <p:nvPr/>
        </p:nvSpPr>
        <p:spPr>
          <a:xfrm>
            <a:off x="5577840" y="3931920"/>
            <a:ext cx="73152" cy="6858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0"/>
          <p:cNvSpPr/>
          <p:nvPr/>
        </p:nvSpPr>
        <p:spPr>
          <a:xfrm>
            <a:off x="5760720" y="4005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Floyd-Warshall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760720" y="4279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9 000× SLOWER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360920" y="40233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36.83s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 · CSC 301 · Algorithm Analysis &amp; Design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INTERPRETATION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Numbers Mean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9748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0.004s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947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average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69748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29000" y="135331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9 000×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29000" y="1947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Floyd-Warshall slowdown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69748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135331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1947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in the test graph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62656"/>
            <a:ext cx="411480" cy="41148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54096"/>
            <a:ext cx="228600" cy="2286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0584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wins overall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005840" y="3154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fast across short, mid, and long queries — always finds the true shortest path. Complexity: Best case O(n log n), Worst case O(n</a:t>
            </a:r>
            <a:r>
              <a:rPr lang="en-US" sz="1050" baseline="30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663440" y="2962656"/>
            <a:ext cx="411480" cy="41148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054096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21208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is fast but inconsistent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5212080" y="3154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faster on tiny graphs, but its heuristic can lead it into dead-ends on larger queries. Complexity: Best case O(n), Worst case O(n²).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57200" y="3831336"/>
            <a:ext cx="411480" cy="41148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22776"/>
            <a:ext cx="228600" cy="2286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05840" y="3776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Bellman-Ford is overkill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1005840" y="4023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ability to handle negative weights is wasted here — city distances are never negative. Complexity: Best case O(n²), Worst case O(n³).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663440" y="3831336"/>
            <a:ext cx="411480" cy="41148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922776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212080" y="3776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Floyd-Warshall is unusable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5212080" y="4023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seconds per query makes it impossible to use in a real navigation app. Complexity: Best case O(n³), Worst case O(n³).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 · CSC 301 · Algorithm Analysis &amp; Design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SIDE-BY-SIDE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Comparison Matrix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554480" cy="41148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0" y="1417320"/>
            <a:ext cx="1645920" cy="41148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103120" y="1417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1417320"/>
            <a:ext cx="2194560" cy="41148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49040" y="1417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Strength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1417320"/>
            <a:ext cx="2011680" cy="41148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Weakness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1417320"/>
            <a:ext cx="822960" cy="41148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55280" y="14173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828800"/>
            <a:ext cx="8229600" cy="594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18288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03120" y="18288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/ Navigation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49040" y="18288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finds the shortest path efficiently.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0" y="18288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handle negative weights.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55280" y="1984248"/>
            <a:ext cx="640080" cy="283464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955280" y="1984248"/>
            <a:ext cx="640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423160"/>
            <a:ext cx="82296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24231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(A-Star)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03120" y="2423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/ Fast Pathfinding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749040" y="24231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fast; uses a heuristic to find the goal.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0" y="2423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get stuck in dead-ends if the guess is wrong.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955280" y="2578608"/>
            <a:ext cx="640080" cy="283464"/>
          </a:xfrm>
          <a:prstGeom prst="roundRect">
            <a:avLst>
              <a:gd name="adj" fmla="val 12903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955280" y="2578608"/>
            <a:ext cx="640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017520"/>
            <a:ext cx="8229600" cy="594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30175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Bellman-Ford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103120" y="30175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Networks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749040" y="3017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handle negative weights (shortcuts).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943600" y="30175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slower than Dijkstra.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55280" y="3172968"/>
            <a:ext cx="640080" cy="283464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955280" y="3172968"/>
            <a:ext cx="640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611880"/>
            <a:ext cx="82296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36118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Floyd-Warshall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103120" y="36118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Infrastructure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749040" y="36118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shortest paths between ALL nodes.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943600" y="36118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slowest by a wide margin.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955280" y="3767328"/>
            <a:ext cx="640080" cy="283464"/>
          </a:xfrm>
          <a:prstGeom prst="roundRect">
            <a:avLst>
              <a:gd name="adj" fmla="val 12903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955280" y="3767328"/>
            <a:ext cx="640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reflect suitability for our specific use case — a GPS-style city router.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 · CSC 301 · Algorithm Analysis &amp; Design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Final Recommendation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206240" cy="3108960"/>
          </a:xfrm>
          <a:prstGeom prst="rect">
            <a:avLst/>
          </a:prstGeom>
          <a:solidFill>
            <a:srgbClr val="081229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ALGORITHM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31520" y="23317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Dijkstra's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731520" y="2971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731520" y="3611880"/>
            <a:ext cx="73152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374904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Fastest. Most reliable. Already trusted by every major GPS app on the planet.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3776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377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48640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wins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0" y="20299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ran the same query 9 000× faster than Floyd-Warshall.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37760" y="2496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486400" y="2496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tool, right job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0" y="2743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algorithm is good at something — but only one fits our problem.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937760" y="32095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5486400" y="32095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real data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0" y="34564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queries, four algorithms, identical 500-city graph.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937760" y="3922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5486400" y="39227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486400" y="416966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scales cleanly and gives a correct shortest path every time.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 · CSC 301 · Algorithm Analysis &amp; Design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0"/>
            <a:ext cx="73152" cy="73152"/>
          </a:xfrm>
          <a:prstGeom prst="ellipse">
            <a:avLst/>
          </a:prstGeom>
          <a:solidFill>
            <a:srgbClr val="14B8A6">
              <a:alpha val="5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0" y="4572000"/>
            <a:ext cx="73152" cy="73152"/>
          </a:xfrm>
          <a:prstGeom prst="ellipse">
            <a:avLst/>
          </a:prstGeom>
          <a:solidFill>
            <a:srgbClr val="14B8A6">
              <a:alpha val="5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640080"/>
            <a:ext cx="73152" cy="73152"/>
          </a:xfrm>
          <a:prstGeom prst="ellipse">
            <a:avLst/>
          </a:prstGeom>
          <a:solidFill>
            <a:srgbClr val="14B8A6">
              <a:alpha val="5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80960" y="1097280"/>
            <a:ext cx="73152" cy="73152"/>
          </a:xfrm>
          <a:prstGeom prst="ellipse">
            <a:avLst/>
          </a:prstGeom>
          <a:solidFill>
            <a:srgbClr val="14B8A6">
              <a:alpha val="5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503920" y="1463040"/>
            <a:ext cx="73152" cy="73152"/>
          </a:xfrm>
          <a:prstGeom prst="ellipse">
            <a:avLst/>
          </a:prstGeom>
          <a:solidFill>
            <a:srgbClr val="14B8A6">
              <a:alpha val="5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548640"/>
            <a:ext cx="73152" cy="73152"/>
          </a:xfrm>
          <a:prstGeom prst="ellipse">
            <a:avLst/>
          </a:prstGeom>
          <a:solidFill>
            <a:srgbClr val="14B8A6">
              <a:alpha val="5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0" y="822960"/>
            <a:ext cx="73152" cy="73152"/>
          </a:xfrm>
          <a:prstGeom prst="ellipse">
            <a:avLst/>
          </a:prstGeom>
          <a:solidFill>
            <a:srgbClr val="14B8A6">
              <a:alpha val="5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86200" y="1280160"/>
            <a:ext cx="1371600" cy="1371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508760"/>
            <a:ext cx="914400" cy="914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love to hear what you think.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114800" y="4160520"/>
            <a:ext cx="9144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listening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 · Section 1 · CSC 301 — Algorithm Analysis &amp; Design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1172</Words>
  <Application>Microsoft Office PowerPoint</Application>
  <PresentationFormat>On-screen Show (16:9)</PresentationFormat>
  <Paragraphs>230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Shortest Path Algorithms</dc:title>
  <dc:subject>PptxGenJS Presentation</dc:subject>
  <dc:creator>Group 4 — CSC 301</dc:creator>
  <cp:lastModifiedBy>عمر فوزي هوساوى</cp:lastModifiedBy>
  <cp:revision>5</cp:revision>
  <dcterms:created xsi:type="dcterms:W3CDTF">2026-05-18T14:10:27Z</dcterms:created>
  <dcterms:modified xsi:type="dcterms:W3CDTF">2026-05-20T17:37:08Z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96578f-6ae1-40cd-93dd-1a3b7a6ede66_Enabled">
    <vt:lpwstr>true</vt:lpwstr>
  </property>
  <property fmtid="{D5CDD505-2E9C-101B-9397-08002B2CF9AE}" pid="3" name="MSIP_Label_b196578f-6ae1-40cd-93dd-1a3b7a6ede66_SetDate">
    <vt:lpwstr>2026-05-18T14:25:13Z</vt:lpwstr>
  </property>
  <property fmtid="{D5CDD505-2E9C-101B-9397-08002B2CF9AE}" pid="4" name="MSIP_Label_b196578f-6ae1-40cd-93dd-1a3b7a6ede66_Method">
    <vt:lpwstr>Standard</vt:lpwstr>
  </property>
  <property fmtid="{D5CDD505-2E9C-101B-9397-08002B2CF9AE}" pid="5" name="MSIP_Label_b196578f-6ae1-40cd-93dd-1a3b7a6ede66_Name">
    <vt:lpwstr>Public - عام</vt:lpwstr>
  </property>
  <property fmtid="{D5CDD505-2E9C-101B-9397-08002B2CF9AE}" pid="6" name="MSIP_Label_b196578f-6ae1-40cd-93dd-1a3b7a6ede66_SiteId">
    <vt:lpwstr>2c86bbfc-8d04-41ff-a83a-942f075e0f60</vt:lpwstr>
  </property>
  <property fmtid="{D5CDD505-2E9C-101B-9397-08002B2CF9AE}" pid="7" name="MSIP_Label_b196578f-6ae1-40cd-93dd-1a3b7a6ede66_ActionId">
    <vt:lpwstr>3f692e79-41e8-4e2a-aa43-a61e7c7dae9e</vt:lpwstr>
  </property>
  <property fmtid="{D5CDD505-2E9C-101B-9397-08002B2CF9AE}" pid="8" name="MSIP_Label_b196578f-6ae1-40cd-93dd-1a3b7a6ede66_ContentBits">
    <vt:lpwstr>0</vt:lpwstr>
  </property>
  <property fmtid="{D5CDD505-2E9C-101B-9397-08002B2CF9AE}" pid="9" name="MSIP_Label_b196578f-6ae1-40cd-93dd-1a3b7a6ede66_Tag">
    <vt:lpwstr>10, 3, 0, 1</vt:lpwstr>
  </property>
</Properties>
</file>